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589520" cy="4114800"/>
          </a:xfrm>
          <a:prstGeom prst="roundRect">
            <a:avLst>
              <a:gd name="adj" fmla="val 3000"/>
            </a:avLst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7200" b="1">
                <a:solidFill>
                  <a:srgbClr val="FFFFFF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7432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BBBBBB"/>
                </a:solidFill>
                <a:latin typeface="Calibri"/>
              </a:defRPr>
            </a:pPr>
            <a:r>
              <a:t>The Trust Layer for the AI Economy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474720"/>
            <a:ext cx="2103120" cy="38100"/>
          </a:xfrm>
          <a:prstGeom prst="roundRect">
            <a:avLst>
              <a:gd name="adj" fmla="val 5000"/>
            </a:avLst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749039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C1A00"/>
                </a:solidFill>
                <a:latin typeface="Calibri"/>
              </a:defRPr>
            </a:pPr>
            <a:r>
              <a:t>"The Carfax for AI"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38912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t>Suffolk University  |  40K Pitch Competition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7548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Frederic Putkov  |  Founder &amp;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Thousands of AI tools exist. Zero trust verification. Agora provides the missing infrastructure.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371600"/>
            <a:ext cx="2560320" cy="3474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$183B Market by 2033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331720"/>
            <a:ext cx="22860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4688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AI agent market: $10.9B (2026) to $183B (2033).</a:t>
            </a:r>
            <a:br/>
            <a:r>
              <a:t>49.6% CAGR.</a:t>
            </a:r>
            <a:br/>
            <a:br/>
            <a:r>
              <a:t>Circle: 140M agent payments.</a:t>
            </a:r>
            <a:br/>
            <a:r>
              <a:t>400K+ active agents.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1371600"/>
            <a:ext cx="2560320" cy="3474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20440" y="1508760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The Trust Gap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2331720"/>
            <a:ext cx="22860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24688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97M+ MCP SDK downloads.</a:t>
            </a:r>
            <a:br/>
            <a:r>
              <a:t>16,000+ published servers.</a:t>
            </a:r>
            <a:br/>
            <a:r>
              <a:t>Zero trust scoring.</a:t>
            </a:r>
            <a:br/>
            <a:br/>
            <a:r>
              <a:t>233 AI incidents in 2024 (+56% YoY).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1371600"/>
            <a:ext cx="2560320" cy="3474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63640" y="1508760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31720"/>
            <a:ext cx="22860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4688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Computed trust scores (0.0-1.0)</a:t>
            </a:r>
            <a:br/>
            <a:r>
              <a:t>from 6 real signals.</a:t>
            </a:r>
            <a:br/>
            <a:br/>
            <a:r>
              <a:t>Searchable registry.</a:t>
            </a:r>
            <a:br/>
            <a:r>
              <a:t>Dual-rail payments.</a:t>
            </a:r>
            <a:br/>
            <a:r>
              <a:t>ZK-proof verification.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1371600"/>
            <a:ext cx="2560320" cy="3474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06840" y="1508760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AI-First Operations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2331720"/>
            <a:ext cx="22860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24688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7 AI agents run operations.</a:t>
            </a:r>
            <a:br/>
            <a:r>
              <a:t>Burn: $4,900/mo vs $60K+ normal.</a:t>
            </a:r>
            <a:br/>
            <a:br/>
            <a:r>
              <a:t>Break-even: $25,500/mo.</a:t>
            </a:r>
            <a:br/>
            <a:r>
              <a:t>Max 15 humans ever.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3848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The $183B Trust Crisis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"Everyone built HOW to pay. Nobody built WHO to trust."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6400" b="1">
                <a:solidFill>
                  <a:srgbClr val="DC1A00"/>
                </a:solidFill>
                <a:latin typeface="Calibri"/>
              </a:defRPr>
            </a:pPr>
            <a:r>
              <a:t>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AI incidents in 2024  |  +56% YoY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Stanford AI Index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Payment Rails (Built)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783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+  Google UCP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0391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+  Mastercard Agent 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2951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+  Coinbase (50M+ tx)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551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+  Circle (140M payments)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8072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+  Stripe x402 ($600M)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DC1A00"/>
                </a:solidFill>
                <a:latin typeface="Calibri"/>
              </a:defRPr>
            </a:pPr>
            <a:r>
              <a:t>Trust Layer (Missing)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783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NOBODY</a:t>
            </a:r>
            <a:br/>
            <a:br/>
            <a:r>
              <a:t>Zero trust scoring.</a:t>
            </a:r>
            <a:br/>
            <a:r>
              <a:t>Zero anti-gaming.</a:t>
            </a:r>
            <a:br/>
            <a:r>
              <a:t>Zero marketplace.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657600"/>
            <a:ext cx="10515600" cy="8229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60" y="3749039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74903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McDonald's AI leaked 64M applicant records. Password: 123456.</a:t>
            </a:r>
          </a:p>
        </p:txBody>
      </p:sp>
      <p:sp>
        <p:nvSpPr>
          <p:cNvPr id="33" name="Oval 32"/>
          <p:cNvSpPr/>
          <p:nvPr/>
        </p:nvSpPr>
        <p:spPr>
          <a:xfrm>
            <a:off x="4297680" y="3749039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74903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Replit coding agent deleted a production database, then faked data to hide it.</a:t>
            </a:r>
          </a:p>
        </p:txBody>
      </p:sp>
      <p:sp>
        <p:nvSpPr>
          <p:cNvPr id="35" name="Oval 34"/>
          <p:cNvSpPr/>
          <p:nvPr/>
        </p:nvSpPr>
        <p:spPr>
          <a:xfrm>
            <a:off x="7772400" y="3749039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74903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430% increase in AI supply chain attacks in 2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3848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Market Opportunity &amp; Addressable 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The fastest-growing infrastructure category in tech history.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000000"/>
                </a:solidFill>
                <a:latin typeface="Calibri"/>
              </a:defRPr>
            </a:pPr>
            <a:r>
              <a:t>$10.9B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DC1A00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463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DC1A00"/>
                </a:solidFill>
                <a:latin typeface="Calibri"/>
              </a:defRPr>
            </a:pPr>
            <a:r>
              <a:t>$183B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t>2033  |  49.6% CAGR  |  Grand View Research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743200"/>
            <a:ext cx="2560320" cy="1188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DC1A00"/>
                </a:solidFill>
                <a:latin typeface="Calibri"/>
              </a:defRPr>
            </a:pPr>
            <a:r>
              <a:t>97M+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MCP SDK</a:t>
            </a:r>
            <a:br/>
            <a:r>
              <a:t>Downloads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2743200"/>
            <a:ext cx="2560320" cy="1188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DC1A00"/>
                </a:solidFill>
                <a:latin typeface="Calibri"/>
              </a:defRPr>
            </a:pPr>
            <a:r>
              <a:t>16,000+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Published</a:t>
            </a:r>
            <a:br/>
            <a:r>
              <a:t>MCP Servers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743200"/>
            <a:ext cx="2560320" cy="1188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DC1A00"/>
                </a:solidFill>
                <a:latin typeface="Calibri"/>
              </a:defRPr>
            </a:pPr>
            <a:r>
              <a:t>150+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A2A Partner</a:t>
            </a:r>
            <a:br/>
            <a:r>
              <a:t>Organizations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743200"/>
            <a:ext cx="2560320" cy="1188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DC1A00"/>
                </a:solidFill>
                <a:latin typeface="Calibri"/>
              </a:defRPr>
            </a:pPr>
            <a:r>
              <a:t>$3-5T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Agent Commerce</a:t>
            </a:r>
            <a:br/>
            <a:r>
              <a:t>2030 (McKinsey)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20624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FD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297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000000"/>
                </a:solidFill>
                <a:latin typeface="Calibri"/>
              </a:defRPr>
            </a:pPr>
            <a:r>
              <a:t>Already Happening: Circle processed 140M agent payments ($43M volume, $0.31 avg) in 9 months. 400K+ agents with wallets.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9057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Agora = "Carfax for AI"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One platform: Discover &gt; Verify &gt; Pay &gt; Execute.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37160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1508760"/>
            <a:ext cx="3200400" cy="411480"/>
          </a:xfrm>
          <a:prstGeom prst="roundRect">
            <a:avLst>
              <a:gd name="adj" fmla="val 3000"/>
            </a:avLst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Discovery Registry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331720"/>
            <a:ext cx="292608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4688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Multi-protocol search (MCP, A2A, AP2, x402).</a:t>
            </a:r>
            <a:br/>
            <a:r>
              <a:t>Sellers list free.</a:t>
            </a:r>
            <a:br/>
            <a:r>
              <a:t>Buyers search by capability,</a:t>
            </a:r>
            <a:br/>
            <a:r>
              <a:t>trust score, and price.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37160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06240" y="1508760"/>
            <a:ext cx="3200400" cy="411480"/>
          </a:xfrm>
          <a:prstGeom prst="roundRect">
            <a:avLst>
              <a:gd name="adj" fmla="val 3000"/>
            </a:avLst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Computed Trust Scores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2331720"/>
            <a:ext cx="292608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24688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Trust score 0.0-1.0 from 6 signals:</a:t>
            </a:r>
            <a:br/>
            <a:r>
              <a:t>Response Time (25%)</a:t>
            </a:r>
            <a:br/>
            <a:r>
              <a:t>Execution Quality (25%)</a:t>
            </a:r>
            <a:br/>
            <a:r>
              <a:t>Identity (20%)</a:t>
            </a:r>
            <a:br/>
            <a:r>
              <a:t>Capability Match (15%)</a:t>
            </a:r>
            <a:br/>
            <a:r>
              <a:t>Peer Review (10%) | History (5%)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137160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18120" y="1508760"/>
            <a:ext cx="3200400" cy="411480"/>
          </a:xfrm>
          <a:prstGeom prst="roundRect">
            <a:avLst>
              <a:gd name="adj" fmla="val 3000"/>
            </a:avLst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TRANSACT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Dual-Rail Payments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2331720"/>
            <a:ext cx="292608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24688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Fiat (Stripe): 92% margin.</a:t>
            </a:r>
            <a:br/>
            <a:r>
              <a:t>Crypto (x402 USDC): 98% margin.</a:t>
            </a:r>
            <a:br/>
            <a:r>
              <a:t>&lt;5 sec settlement.</a:t>
            </a:r>
            <a:br/>
            <a:r>
              <a:t>10% commission. Escrow protection.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DC1A00"/>
                </a:solidFill>
                <a:latin typeface="Calibri"/>
              </a:defRPr>
            </a:pPr>
            <a:r>
              <a:t>"One trust score. Computed, not self-reported."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4265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Technology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End-to-end connection cycle from discovery to verified delivery.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371600"/>
            <a:ext cx="2011680" cy="20116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17320" y="1463040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Search by capability,</a:t>
            </a:r>
            <a:br/>
            <a:r>
              <a:t>price, or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103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C1A0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1371600"/>
            <a:ext cx="2011680" cy="20116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66160" y="1463040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Trust score from</a:t>
            </a:r>
            <a:br/>
            <a:r>
              <a:t>6 real signals + ZK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103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C1A0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1371600"/>
            <a:ext cx="2011680" cy="20116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15000" y="1463040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PAY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Fiat or x402 crypto,</a:t>
            </a:r>
            <a:br/>
            <a:r>
              <a:t>held in escrow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103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C1A0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86600" y="1371600"/>
            <a:ext cx="2011680" cy="20116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63840" y="1463040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Proxied request,</a:t>
            </a:r>
            <a:br/>
            <a:r>
              <a:t>real-time 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2103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C1A0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1371600"/>
            <a:ext cx="2011680" cy="20116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12680" y="1463040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SETTLE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t>Success: release.</a:t>
            </a:r>
            <a:br/>
            <a:r>
              <a:t>Fail: auto-refund.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3657600"/>
            <a:ext cx="10515600" cy="164592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3749039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Tech Stack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Trust Engine: TypeScript, 6 components, EWMA + Wilson Score + Sigmoid  |  API: Express.js, 8 endpoints, &lt;10ms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Marketplace: React + Vite + Zustand, 7 routes  |  DB: Supabase (PostgreSQL + Auth + RLS)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3 Specialist Agents: CodeGuard (GitHub), MarketScope (npm+HN), WebPulse (PageSpeed)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ZK Proofs: Circom + Groth16 circuit  |  MCP Server: @modelcontextprotocol/sdk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9474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Revenue Model &amp; Financial Projections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Hybrid marketplace commission + infrastructure subscriptions. 90% gross margin.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37160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1481328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Marketplace Commission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1762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DC1A00"/>
                </a:solidFill>
                <a:latin typeface="Calibri"/>
              </a:defRPr>
            </a:pPr>
            <a:r>
              <a:t>Launches: Day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2377440"/>
            <a:ext cx="246888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4688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10% of every transaction.</a:t>
            </a:r>
            <a:br/>
            <a:r>
              <a:t>Min $0.01/tx.</a:t>
            </a:r>
            <a:br/>
            <a:r>
              <a:t>$5 avg = $0.45 net.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38728" y="137160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48456" y="1481328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8456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Trust API Subs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21762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DC1A00"/>
                </a:solidFill>
                <a:latin typeface="Calibri"/>
              </a:defRPr>
            </a:pPr>
            <a:r>
              <a:t>Launches: Day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48456" y="2377440"/>
            <a:ext cx="246888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8456" y="24688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Free: 100/mo</a:t>
            </a:r>
            <a:br/>
            <a:r>
              <a:t>Dev: $29/mo (10K)</a:t>
            </a:r>
            <a:br/>
            <a:r>
              <a:t>Biz: $99/mo (100K)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7376" y="137160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47104" y="1481328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Prepaid Balance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21762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DC1A00"/>
                </a:solidFill>
                <a:latin typeface="Calibri"/>
              </a:defRPr>
            </a:pPr>
            <a:r>
              <a:t>Launches: Month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47104" y="2377440"/>
            <a:ext cx="246888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24688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3% convenience fee</a:t>
            </a:r>
            <a:br/>
            <a:r>
              <a:t>on top-ups via Stripe.</a:t>
            </a:r>
            <a:br/>
            <a:r>
              <a:t>No MTL needed.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36024" y="137160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45752" y="1481328"/>
            <a:ext cx="411480" cy="41148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5752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Premium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5752" y="21762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DC1A00"/>
                </a:solidFill>
                <a:latin typeface="Calibri"/>
              </a:defRPr>
            </a:pPr>
            <a:r>
              <a:t>Launches: Month 4-6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45752" y="2377440"/>
            <a:ext cx="246888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45752" y="24688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Priority: $29-99/mo</a:t>
            </a:r>
            <a:br/>
            <a:r>
              <a:t>SLA: $49-199/mo</a:t>
            </a:r>
            <a:br/>
            <a:r>
              <a:t>Trust Data: $19-99/mo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389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389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Monthly Burn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$4,900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389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$25,500/mo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389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Y1 Target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$25K-45K/mo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74683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Every competitor solves one piece. Nobody combines trust + discovery + payments.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13716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/>
                <a:gridCol w="1502228"/>
                <a:gridCol w="1502228"/>
                <a:gridCol w="1502228"/>
                <a:gridCol w="1502228"/>
                <a:gridCol w="1502228"/>
                <a:gridCol w="1502232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Skyfire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Masumi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ERC-8004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Scalekit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AGORA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KYA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DID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NFT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DID+Auth</a:t>
                      </a:r>
                    </a:p>
                  </a:txBody>
                  <a:tcPr>
                    <a:solidFill>
                      <a:srgbClr val="FDF0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Trust Scoring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Raw 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6-factor</a:t>
                      </a:r>
                    </a:p>
                  </a:txBody>
                  <a:tcPr>
                    <a:solidFill>
                      <a:srgbClr val="FDF0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Anti-Gaming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4 detectors</a:t>
                      </a:r>
                    </a:p>
                  </a:txBody>
                  <a:tcPr>
                    <a:solidFill>
                      <a:srgbClr val="FDF0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ZK Proofs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zkML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Groth16</a:t>
                      </a:r>
                    </a:p>
                  </a:txBody>
                  <a:tcPr>
                    <a:solidFill>
                      <a:srgbClr val="FDF0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Full catalog</a:t>
                      </a:r>
                    </a:p>
                  </a:txBody>
                  <a:tcPr>
                    <a:solidFill>
                      <a:srgbClr val="FDF0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Payments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Dual-rail</a:t>
                      </a:r>
                    </a:p>
                  </a:txBody>
                  <a:tcPr>
                    <a:solidFill>
                      <a:srgbClr val="FDF0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Multi-Protocol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4 protocols</a:t>
                      </a:r>
                    </a:p>
                  </a:txBody>
                  <a:tcPr>
                    <a:solidFill>
                      <a:srgbClr val="FDF0EC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Data moat: trust scores need transaction history. A competitor 12 months later starts at 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9891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AI-First Operations: 7 Agents, $200/mo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We replace $12,000/month in human costs with AI agents from Day 1.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37160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1 Founder + 7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$4,900/month total burn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AI: support, content, curation, onboarding, disputes,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  Break-even at $25,500/mo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37160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888888"/>
                </a:solidFill>
                <a:latin typeface="Calibri"/>
              </a:defRPr>
            </a:pPr>
            <a:r>
              <a:t>NORMAL STARTUP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8-10 people minimum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$60,000+/month burn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Support $8K + Marketing $5K + Bookkeeper $2K + 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Break-even at $45,000/mo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Curation Crawler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Scans MCP registries + 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977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Content 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Writes blogs, docs, social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297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Support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Handles 95%+ tickets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Onboarding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URL -&gt; AI fills fields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Dispute Resolver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Auto-resolves 90%+ disputes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977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Finance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MRR dashboards, tax prep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297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Competitive Monitor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Tracks competitor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5100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What's Built - Working Software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"This is not a slide company. This is working software."  |  agora-marketplace.vercel.app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371600"/>
            <a:ext cx="10515600" cy="393192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Trust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1417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TypeScript, 6-component adaptive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1828800"/>
            <a:ext cx="10515600" cy="393192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1874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18745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8 endpoints, sub-10ms trust queries, real-time 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286000"/>
            <a:ext cx="10515600" cy="393192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Marketplace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2331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React + Vite, 7 routes, search/filter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2743200"/>
            <a:ext cx="10515600" cy="393192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88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3 Specialist Agents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2788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CodeGuard (GitHub), MarketScope (npm+HN), WebPulse (PageSpeed)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200400"/>
            <a:ext cx="10515600" cy="393192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246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2461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TypeScript, @modelcontextprotocol/sdk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DDAA00"/>
                </a:solidFill>
                <a:latin typeface="Calibri"/>
              </a:defRPr>
            </a:pPr>
            <a:r>
              <a:t>BUILT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657600"/>
            <a:ext cx="10515600" cy="393192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703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ZK Proofs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3703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Circom + Groth16 circuit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DDAA00"/>
                </a:solidFill>
                <a:latin typeface="Calibri"/>
              </a:defRPr>
            </a:pPr>
            <a:r>
              <a:t>CIRCUIT EXISTS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114800"/>
            <a:ext cx="10515600" cy="393192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Demo Pipeline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41605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Full E2E: query &gt; agent selection &gt; verified delivery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LIVE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50309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Why Now - The Regulatory Hammer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Global regulation transforms AI trust from preference to legal mandate.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2801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D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EU AI ACT - FULL ENFORCEMENT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000000"/>
                </a:solidFill>
                <a:latin typeface="Calibri"/>
              </a:defRPr>
            </a:pPr>
            <a:r>
              <a:t>August 2,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t>~5 months from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DC1A00"/>
                </a:solidFill>
                <a:latin typeface="Calibri"/>
              </a:defRPr>
            </a:pPr>
            <a:r>
              <a:t>Fines: up to EUR 35M or 7% global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High-risk: hiring, finance, healthcare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2801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Compliance Cost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555555"/>
                </a:solidFill>
                <a:latin typeface="Calibri"/>
              </a:defRPr>
            </a:pPr>
            <a:r>
              <a:t>Build Yourself: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555555"/>
                </a:solidFill>
                <a:latin typeface="Calibri"/>
              </a:defRPr>
            </a:pPr>
            <a:r>
              <a:t>EUR 319,000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468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+ EUR 150K/year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DC1A00"/>
                </a:solidFill>
                <a:latin typeface="Calibri"/>
              </a:defRPr>
            </a:pPr>
            <a:r>
              <a:t>AGORA: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$199/month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468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1,600x cheaper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34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Agora maps to 6/7 key EU AI Act articles.</a:t>
            </a:r>
            <a:br/>
            <a:r>
              <a:t>Built for trust. Compliance came free.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40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Global Regulation Timeline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206240"/>
            <a:ext cx="2103120" cy="77724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2519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EU AI 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4348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0000"/>
                </a:solidFill>
                <a:latin typeface="Calibri"/>
              </a:defRPr>
            </a:pPr>
            <a:r>
              <a:t>Aug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617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Full enforcement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0" y="4206240"/>
            <a:ext cx="2103120" cy="77724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2519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USA Colorado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44348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0000"/>
                </a:solidFill>
                <a:latin typeface="Calibri"/>
              </a:defRPr>
            </a:pPr>
            <a:r>
              <a:t>Jun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4617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Duty of care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0640" y="4206240"/>
            <a:ext cx="2103120" cy="77724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0" y="42519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USA NIST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44348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0000"/>
                </a:solidFill>
                <a:latin typeface="Calibri"/>
              </a:defRPr>
            </a:pPr>
            <a:r>
              <a:t>Feb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4617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 agent standards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60920" y="4206240"/>
            <a:ext cx="2103120" cy="77724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42519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China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44348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0000"/>
                </a:solidFill>
                <a:latin typeface="Calibri"/>
              </a:defRPr>
            </a:pPr>
            <a:r>
              <a:t>Jan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4617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Security reviews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4206240"/>
            <a:ext cx="2103120" cy="77724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42519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Singapore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44348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0000"/>
                </a:solidFill>
                <a:latin typeface="Calibri"/>
              </a:defRPr>
            </a:pPr>
            <a:r>
              <a:t>Jan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617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Agentic AI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75517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AI-first company. Built by builders.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1371600"/>
            <a:ext cx="8229600" cy="32004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1554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00000"/>
                </a:solidFill>
                <a:latin typeface="Calibri"/>
              </a:defRPr>
            </a:pPr>
            <a:r>
              <a:t>Frederic Putkov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1965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C1A00"/>
                </a:solidFill>
                <a:latin typeface="Calibri"/>
              </a:defRPr>
            </a:pPr>
            <a:r>
              <a:t>CEO &amp; Founder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2860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Suffolk University, Entrepreneurship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606040"/>
            <a:ext cx="73152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2743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  Built entire Agora stack: trust engine, marketplace, API, ZK circuits, MCP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063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  Led Proxima (blockchain real estate) to Suffolk competition finals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383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  Runs operations with 7 AI agents - burn $4,900 vs industry $60K+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703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  First customer of own platform: living proof AI agents can run a company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DC1A00"/>
                </a:solidFill>
                <a:latin typeface="Calibri"/>
              </a:defRPr>
            </a:pPr>
            <a:r>
              <a:t>"We practice what we preach: 7 AI agents run our operations."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Regulation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28232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00726" y="6316980"/>
            <a:ext cx="842328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The Ask &amp; Close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600" b="1">
                <a:solidFill>
                  <a:srgbClr val="DC1A00"/>
                </a:solidFill>
                <a:latin typeface="Calibri"/>
              </a:defRPr>
            </a:pPr>
            <a:r>
              <a:t>$10,000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011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t>What this unlocks: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6888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&gt;  50 agents listed and live on the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78892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&gt;  Stripe payments fully integrated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10896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&gt;  First paid transactions - real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42900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&gt;  EU AI Act compliance certification 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840480"/>
            <a:ext cx="9144000" cy="914400"/>
          </a:xfrm>
          <a:prstGeom prst="roundRect">
            <a:avLst>
              <a:gd name="adj" fmla="val 3000"/>
            </a:avLst>
          </a:prstGeom>
          <a:solidFill>
            <a:srgbClr val="FD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3931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233 incidents  |  140M payments with zero quality control  |  $183B market by 2033</a:t>
            </a:r>
          </a:p>
          <a:p>
            <a:pPr algn="ctr">
              <a:spcAft>
                <a:spcPts val="3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EU enforcement in 5 months  |  EUR 35M fines  |  Agora: $199/mo vs EUR 319K internal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589520" cy="4114800"/>
          </a:xfrm>
          <a:prstGeom prst="roundRect">
            <a:avLst>
              <a:gd name="adj" fmla="val 3000"/>
            </a:avLst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6400" b="1">
                <a:solidFill>
                  <a:srgbClr val="FFFFFF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7432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DC1A00"/>
                </a:solidFill>
                <a:latin typeface="Calibri"/>
              </a:defRPr>
            </a:pPr>
            <a:r>
              <a:t>Verify AI. Trust the Future.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383280"/>
            <a:ext cx="2103120" cy="38100"/>
          </a:xfrm>
          <a:prstGeom prst="roundRect">
            <a:avLst>
              <a:gd name="adj" fmla="val 5000"/>
            </a:avLst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8404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The trust layer for the AI economy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3891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agora-marketplace.vercel.app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0000"/>
                </a:solidFill>
                <a:latin typeface="Calibri"/>
              </a:defRPr>
            </a:pPr>
            <a:r>
              <a:t>Data Sources &amp; Bibliography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1091153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Every claim is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233 AI incidents, +56% YoY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Stanford AI Index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78% organizations using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McKinsey Global Survey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$10.91B -&gt; $182.97B market, 49.6% CAGR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Grand View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$3-5T agent commerce by 2030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McKinsey via Forbes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MCP: 97M+ SDK downloads, 16K+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npm/PyPI registries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Circle: 140M payments, 400K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Circle Blog / Annual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x402: 50M+ 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The Block, MEXC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EU AI Act: Aug 2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europa.eu, AI Act Regulation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097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EU fines: EUR 35M / 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2801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 Act Article 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554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EUR 319K compliance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7373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BCG / Deloitte estimates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011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McHire: 64M records leaked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1945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AI Incident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4688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Replit agent deleted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517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Replit incident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9260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Recall Network: $42M raised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1089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Bessemer Venture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83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150+ A2A partners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5661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Google, Linux Foundation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0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000000"/>
                </a:solidFill>
                <a:latin typeface="Calibri"/>
              </a:defRPr>
            </a:pPr>
            <a:r>
              <a:t>60+ AP2 payment partners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0233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Google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