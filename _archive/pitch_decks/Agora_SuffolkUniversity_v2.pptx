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280"/>
              </a:lnSpc>
              <a:spcAft>
                <a:spcPts val="0"/>
              </a:spcAft>
              <a:defRPr sz="7200" b="1">
                <a:solidFill>
                  <a:srgbClr val="FFFFFF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BBBBBB"/>
                </a:solidFill>
                <a:latin typeface="Calibri"/>
              </a:defRPr>
            </a:pPr>
            <a:r>
              <a:t>The Trust Layer for the AI Economy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66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DC1A00"/>
                </a:solidFill>
                <a:latin typeface="Calibri"/>
              </a:defRPr>
            </a:pPr>
            <a:r>
              <a:t>"The Carfax for AI — Verify Before You Trust"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297680"/>
            <a:ext cx="210312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Suffolk University  ·  40K Pitch Competition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555555"/>
                </a:solidFill>
                <a:latin typeface="Calibri"/>
              </a:defRPr>
            </a:pPr>
            <a:r>
              <a:t>Frederic Putkov  ·  Founder &amp; CEO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Thousands of AI tools exist. Zero trust verification. Zero payments. Agora provides the missing infrastructure.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55448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173736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$183B Market by 2033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606040"/>
            <a:ext cx="2103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AI agent market: $10.9B (2026) → $183B (2033).</a:t>
            </a:r>
            <a:br/>
            <a:r>
              <a:t>49.6% CAGR — fastest infrastructure category in tech.</a:t>
            </a:r>
            <a:br/>
            <a:br/>
            <a:r>
              <a:t>Circle: 140M agent payments in 9 months.</a:t>
            </a:r>
            <a:br/>
            <a:r>
              <a:t>400K+ active agents with wallets.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155448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66160" y="173736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Trust Gap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2606040"/>
            <a:ext cx="2103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97M+ MCP SDK downloads.</a:t>
            </a:r>
            <a:br/>
            <a:r>
              <a:t>16,000+ published servers.</a:t>
            </a:r>
            <a:br/>
            <a:r>
              <a:t>Zero built-in trust scoring.</a:t>
            </a:r>
            <a:br/>
            <a:br/>
            <a:r>
              <a:t>233 AI incidents in 2024 — up 56% YoY.</a:t>
            </a:r>
            <a:br/>
            <a:r>
              <a:t>430% increase in supply chain attacks.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155448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09360" y="173736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2606040"/>
            <a:ext cx="2103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Computed trust scores (0.0–1.0) from 6 real signals.</a:t>
            </a:r>
            <a:br/>
            <a:r>
              <a:t>Not ratings — computed and verified.</a:t>
            </a:r>
            <a:br/>
            <a:br/>
            <a:r>
              <a:t>Searchable agent registry.</a:t>
            </a:r>
            <a:br/>
            <a:r>
              <a:t>Dual-rail payments: fiat + x402 crypto.</a:t>
            </a:r>
            <a:br/>
            <a:r>
              <a:t>ZK-proof verification.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69680" y="155448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52560" y="173736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2286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AI-First Operations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2606040"/>
            <a:ext cx="2103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7 AI agents run operations.</a:t>
            </a:r>
            <a:br/>
            <a:r>
              <a:t>Monthly burn: $4,900/mo.</a:t>
            </a:r>
            <a:br/>
            <a:r>
              <a:t>Normal startup: $60,000+/mo.</a:t>
            </a:r>
            <a:br/>
            <a:br/>
            <a:r>
              <a:t>Break-even at $25,500/mo.</a:t>
            </a:r>
            <a:br/>
            <a:r>
              <a:t>Max 15 humans ever.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$183B Trust Crisis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Everyone built HOW to pay. Nobody built WHO to trust.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5544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280"/>
              </a:lnSpc>
              <a:spcAft>
                <a:spcPts val="0"/>
              </a:spcAft>
              <a:defRPr sz="7200" b="1">
                <a:solidFill>
                  <a:srgbClr val="DC1A00"/>
                </a:solidFill>
                <a:latin typeface="Calibri"/>
              </a:defRPr>
            </a:pPr>
            <a:r>
              <a:t>233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BBBBBB"/>
                </a:solidFill>
                <a:latin typeface="Calibri"/>
              </a:defRPr>
            </a:pPr>
            <a:r>
              <a:t>AI incidents in 2024  ↑ 56% YoY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— Stanford AI Index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1645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2E7D32"/>
                </a:solidFill>
                <a:latin typeface="Calibri"/>
              </a:defRPr>
            </a:pPr>
            <a:r>
              <a:t>✅ Payment Rails (Built)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  •  Google UCP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2286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  •  Mastercard Agent Pay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  •  Coinbase (50M+ tx)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2834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  •  Circle (140M payments)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3108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  •  Stripe x402 ($600M)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1645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❌ Trust Layer (Missing)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201168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BBBBBB"/>
                </a:solidFill>
                <a:latin typeface="Calibri"/>
              </a:defRPr>
            </a:pPr>
            <a:r>
              <a:t>NOBODY</a:t>
            </a:r>
            <a:br/>
            <a:br/>
            <a:r>
              <a:t>Zero behavioral trust scoring.</a:t>
            </a:r>
            <a:br/>
            <a:r>
              <a:t>Zero anti-gaming.</a:t>
            </a:r>
            <a:br/>
            <a:r>
              <a:t>Zero discovery marketplace.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McDonald's AI leaked 64M records (password: 123456)  •  Replit agent deleted a production database &amp; faked data to hide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The fastest-growing infrastructure category in tech history.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09"/>
              </a:lnSpc>
              <a:spcAft>
                <a:spcPts val="0"/>
              </a:spcAft>
              <a:defRPr sz="5400" b="1">
                <a:solidFill>
                  <a:srgbClr val="FFFFFF"/>
                </a:solidFill>
                <a:latin typeface="Calibri"/>
              </a:defRPr>
            </a:pPr>
            <a:r>
              <a:t>$10.9B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286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1828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DC1A00"/>
                </a:solidFill>
                <a:latin typeface="Calibri"/>
              </a:defRPr>
            </a:pPr>
            <a:r>
              <a:t>→→→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155448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09"/>
              </a:lnSpc>
              <a:spcAft>
                <a:spcPts val="0"/>
              </a:spcAft>
              <a:defRPr sz="5400" b="1">
                <a:solidFill>
                  <a:srgbClr val="DC1A00"/>
                </a:solidFill>
                <a:latin typeface="Calibri"/>
              </a:defRPr>
            </a:pPr>
            <a:r>
              <a:t>$183B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0">
                <a:solidFill>
                  <a:srgbClr val="888888"/>
                </a:solidFill>
                <a:latin typeface="Calibri"/>
              </a:defRPr>
            </a:pPr>
            <a:r>
              <a:t>2033  ·  49.6% CAGR  ·  Grand View Research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29260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DC1A00"/>
                </a:solidFill>
                <a:latin typeface="Calibri"/>
              </a:defRPr>
            </a:pPr>
            <a:r>
              <a:t>97M+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MCP SDK Downloads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29260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DC1A00"/>
                </a:solidFill>
                <a:latin typeface="Calibri"/>
              </a:defRPr>
            </a:pPr>
            <a:r>
              <a:t>16,000+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Published MCP Servers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29260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DC1A00"/>
                </a:solidFill>
                <a:latin typeface="Calibri"/>
              </a:defRPr>
            </a:pPr>
            <a:r>
              <a:t>150+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A2A Partner Organizations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2926080"/>
            <a:ext cx="256032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0" y="306324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DC1A00"/>
                </a:solidFill>
                <a:latin typeface="Calibri"/>
              </a:defRPr>
            </a:pPr>
            <a:r>
              <a:t>$3-5T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6118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Agent Commerce by 2030</a:t>
            </a:r>
            <a:br/>
            <a:r>
              <a:t>(McKinsey)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572000"/>
            <a:ext cx="10515600" cy="822960"/>
          </a:xfrm>
          <a:prstGeom prst="roundRect">
            <a:avLst>
              <a:gd name="adj" fmla="val 5000"/>
            </a:avLst>
          </a:prstGeom>
          <a:solidFill>
            <a:srgbClr val="2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4663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🔥 Already Happening: Circle processed 140M agent payments ($43M volume, $0.31 avg) in 9 months. 400K+ agents with wallets.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Agora = "Carfax for AI"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One platform for the entire AI connection cycle: Discover → Verify → Pay → Execute.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5544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🔍 DISCOVER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194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Discovery Registry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AI agents and humans find services through a structured, searchable catalog.</a:t>
            </a:r>
            <a:br/>
            <a:br/>
            <a:r>
              <a:t>Multi-protocol: MCP, A2A, AP2, x402.</a:t>
            </a:r>
            <a:br/>
            <a:r>
              <a:t>Sellers list for free.</a:t>
            </a:r>
            <a:br/>
            <a:r>
              <a:t>Buyers search by capability, trust score, and price.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15544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🛡️ 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2194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Computed Trust Scores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Every agent gets a trust score (0.0–1.0) computed from 6 real signals:</a:t>
            </a:r>
            <a:br/>
            <a:br/>
            <a:r>
              <a:t>• Response Time (25%)</a:t>
            </a:r>
            <a:br/>
            <a:r>
              <a:t>• Execution Quality (25%)</a:t>
            </a:r>
            <a:br/>
            <a:r>
              <a:t>• Identity Verification (20%)</a:t>
            </a:r>
            <a:br/>
            <a:r>
              <a:t>• Capability Match (15%)</a:t>
            </a:r>
            <a:br/>
            <a:r>
              <a:t>• Peer Review (10%)</a:t>
            </a:r>
            <a:br/>
            <a:r>
              <a:t>• History (5%)</a:t>
            </a:r>
            <a:br/>
            <a:br/>
            <a:r>
              <a:t>Not star ratings. COMPUTED.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1554480"/>
            <a:ext cx="3383280" cy="4114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737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💰 TRANSACT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1945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Dual-Rail Payments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2560320"/>
            <a:ext cx="2834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Rail 1: Prepaid balance (fiat via Stripe)</a:t>
            </a:r>
            <a:br/>
            <a:r>
              <a:t>  → 92% margin on micro-transactions</a:t>
            </a:r>
            <a:br/>
            <a:br/>
            <a:r>
              <a:t>Rail 2: x402 protocol (USDC on Base)</a:t>
            </a:r>
            <a:br/>
            <a:r>
              <a:t>  → 98% margin, &lt;5 sec settlement</a:t>
            </a:r>
            <a:br/>
            <a:br/>
            <a:r>
              <a:t>10% marketplace commission.</a:t>
            </a:r>
            <a:br/>
            <a:r>
              <a:t>Escrow: success → release; failure → refund.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521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"One trust score. Computed, not self-reported."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Architecture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End-to-end connection cycle — from discovery to verified delivery.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55448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71600" y="169164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6060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Search by capability,</a:t>
            </a:r>
            <a:br/>
            <a:r>
              <a:t>price, or trust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2331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155448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26060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See trust score</a:t>
            </a:r>
            <a:br/>
            <a:r>
              <a:t>(6 real signals).</a:t>
            </a:r>
            <a:br/>
            <a:r>
              <a:t>Request ZK proof.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2331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37760" y="155448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669280" y="169164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26060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Prepaid (fiat) or</a:t>
            </a:r>
            <a:br/>
            <a:r>
              <a:t>x402 (crypto).</a:t>
            </a:r>
            <a:br/>
            <a:r>
              <a:t>Held in escrow.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2331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86600" y="155448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818120" y="169164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EXECUTE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26060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Agora proxies request.</a:t>
            </a:r>
            <a:br/>
            <a:r>
              <a:t>Monitors response.</a:t>
            </a:r>
            <a:br/>
            <a:r>
              <a:t>Real-time tracking.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2331720"/>
            <a:ext cx="137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35440" y="1554480"/>
            <a:ext cx="201168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66960" y="1691640"/>
            <a:ext cx="457200" cy="45720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2240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SETTLE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2606040"/>
            <a:ext cx="1737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Success → released.</a:t>
            </a:r>
            <a:br/>
            <a:r>
              <a:t>Failure → refund.</a:t>
            </a:r>
            <a:br/>
            <a:r>
              <a:t>Data → trust score.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11480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2062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Tech Stack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Trust Engine: TypeScript, 6 components, adaptive EWMA + Wilson Score + Sigmoid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API: Express.js, 8 REST endpoints, sub-10ms trust queries  •  ZK Proofs: Circom + Groth16, 8ms verification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Marketplace: React + Vite + Zustand, 7 routes  •  DB: Supabase (PostgreSQL + Auth + RLS)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3 Specialist Agents w/ Real APIs: CodeGuard (GitHub), MarketScope (npm+HN), WebPulse (PageSpeed)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Revenue Model — 4 Streams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Hybrid marketplace commission + infrastructure subscriptions. 90% gross margin.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7240" y="1600200"/>
            <a:ext cx="365760" cy="36576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Marketplace Commission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2331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Day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26060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10% of every transaction.</a:t>
            </a:r>
            <a:br/>
            <a:r>
              <a:t>Min $0.01/tx.</a:t>
            </a:r>
            <a:br/>
            <a:r>
              <a:t>$5 avg → $0.45 net revenue</a:t>
            </a:r>
            <a:br/>
            <a:r>
              <a:t>per connection.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6616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703320" y="1600200"/>
            <a:ext cx="365760" cy="36576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Trust API Subscriptions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2331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Day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26060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External systems query</a:t>
            </a:r>
            <a:br/>
            <a:r>
              <a:t>trust scores.</a:t>
            </a:r>
            <a:br/>
            <a:br/>
            <a:r>
              <a:t>Free: 100/mo</a:t>
            </a:r>
            <a:br/>
            <a:r>
              <a:t>Dev: $29/mo (10K)</a:t>
            </a:r>
            <a:br/>
            <a:r>
              <a:t>Biz: $99/mo (100K)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9224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629400" y="1600200"/>
            <a:ext cx="365760" cy="36576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Prepaid Balance Fees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2331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Month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26060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3% convenience fee on</a:t>
            </a:r>
            <a:br/>
            <a:r>
              <a:t>top-ups via Stripe.</a:t>
            </a:r>
            <a:br/>
            <a:br/>
            <a:r>
              <a:t>Funds managed by Stripe</a:t>
            </a:r>
            <a:br/>
            <a:r>
              <a:t>(no MTL needed).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418320" y="1463040"/>
            <a:ext cx="2743200" cy="3200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555480" y="1600200"/>
            <a:ext cx="365760" cy="365760"/>
          </a:xfrm>
          <a:prstGeom prst="ellipse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55480" y="2057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Premium API Access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55480" y="2331720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DC1A00"/>
                </a:solidFill>
                <a:latin typeface="Calibri"/>
              </a:defRPr>
            </a:pPr>
            <a:r>
              <a:t>Launches: Month 4-6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260604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Priority Resolution:</a:t>
            </a:r>
            <a:br/>
            <a:r>
              <a:t>  $29-99/mo</a:t>
            </a:r>
            <a:br/>
            <a:r>
              <a:t>Guaranteed SLA:</a:t>
            </a:r>
            <a:br/>
            <a:r>
              <a:t>  $49-199/mo</a:t>
            </a:r>
            <a:br/>
            <a:r>
              <a:t>Enhanced Trust Data:</a:t>
            </a:r>
            <a:br/>
            <a:r>
              <a:t>  $19-99/mo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Gross Margin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Monthly Burn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7472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$4,900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Break-even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$25,500/mo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9377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888888"/>
                </a:solidFill>
                <a:latin typeface="Calibri"/>
              </a:defRPr>
            </a:pPr>
            <a:r>
              <a:t>Y1 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166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  <a:defRPr sz="2000" b="1">
                <a:solidFill>
                  <a:srgbClr val="DC1A00"/>
                </a:solidFill>
                <a:latin typeface="Calibri"/>
              </a:defRPr>
            </a:pPr>
            <a:r>
              <a:t>$25K-45K/mo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Every competitor solves one piece. Nobody combines trust + discovery + payments.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40080" y="146304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8"/>
                <a:gridCol w="1502228"/>
                <a:gridCol w="1502228"/>
                <a:gridCol w="1502228"/>
                <a:gridCol w="1502228"/>
                <a:gridCol w="1502228"/>
                <a:gridCol w="1502232"/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Skyfire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Masumi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ERC-8004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Scalekit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MCP native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AGORA</a:t>
                      </a:r>
                    </a:p>
                  </a:txBody>
                  <a:tcPr>
                    <a:solidFill>
                      <a:srgbClr val="DC1A0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Agent Identity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✅ KYA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✅ DID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✅ NFT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✅ Auth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⚠️ Basic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✅ DID+Auth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Trust Scoring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Raw only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✅ 6-factor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Anti-Gaming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✅ 4 detectors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ZK Proofs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zkML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✅ Groth16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Marketplace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✅ Full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Payments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❌</a:t>
                      </a:r>
                    </a:p>
                  </a:txBody>
                  <a:tcPr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✅ Dual-rail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Multi-Protocol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1 (ETH)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BBBBB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DC1A00"/>
                          </a:solidFill>
                          <a:latin typeface="Calibri"/>
                        </a:defRPr>
                      </a:pPr>
                      <a:r>
                        <a:t>4 protocols</a:t>
                      </a:r>
                    </a:p>
                  </a:txBody>
                  <a:tcPr>
                    <a:solidFill>
                      <a:srgbClr val="1E1E1E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Data moat: trust scores require transaction history. A competitor launching 12 months later starts at 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AI-First Operations: 7 Agents, $200/mo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We replace $12,000/month in human costs with AI agents from Day 1. We practice what we preach.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46304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C1A00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1 Founder  +  7 AI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$4,900/month total burn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AI handles: support, content, curation, onboarding, disputes, finance, monitoring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Break-even: $25,500/mo (6 months earlier than traditional)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146304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20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888888"/>
                </a:solidFill>
                <a:latin typeface="Calibri"/>
              </a:defRPr>
            </a:pPr>
            <a:r>
              <a:t>A NORMAL STARTUP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0116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•  8-10 people minimum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•  $60,000+/month burn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•  Support: $8K/mo  •  Marketing: $5K/mo  •  Bookkeeper: $2K/mo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2971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Calibri"/>
              </a:defRPr>
            </a:pPr>
            <a:r>
              <a:t>•  Break-even: $45,000/mo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023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Curation Crawler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51760" y="4023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Scans MCP registries + GitHub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343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Content Generator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4343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Writes blogs, docs, social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46634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Support 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46634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Handles 95%+ support tickets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49834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Onboarding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98348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URL → AI fills listing fields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0233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Dispute Resolver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4023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Auto-resolves 90%+ disputes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4343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Finance Agent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3434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MRR dashboards, cohort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46634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1">
                <a:solidFill>
                  <a:srgbClr val="DC1A00"/>
                </a:solidFill>
                <a:latin typeface="Calibri"/>
              </a:defRPr>
            </a:pPr>
            <a:r>
              <a:t>🤖 Competitive Monitor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66344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Tracks competitor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What's Built — Working Software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"This isn't a slide company. This is working software." — Live at agora-marketplace.vercel.app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46304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Trust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15087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TypeScript, 6-component adaptive scoring with EWMA + Wilson Score + Sigmoid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✅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96596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REST API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2011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8 endpoints, sub-10ms trust queries, real-time SSE streaming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✅ 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46888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Marketplace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25146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React + Vite, 7 routes, agent catalog with search/filter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✅ LIVE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297180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3 Specialist Agents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017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CodeGuard (GitHub), MarketScope (npm+HN), WebPulse (PageSpeed)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✅ LIVE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47472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35204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TypeScript, @modelcontextprotocol/sdk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3520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DAA00"/>
                </a:solidFill>
                <a:latin typeface="Calibri"/>
              </a:defRPr>
            </a:pPr>
            <a:r>
              <a:t>✅ BUILT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397764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ZK Proofs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0" y="40233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Circom + Groth16 circuit, cryptographic trust verification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DAA00"/>
                </a:solidFill>
                <a:latin typeface="Calibri"/>
              </a:defRPr>
            </a:pPr>
            <a:r>
              <a:t>✅ CIRCUIT EXISTS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4480560"/>
            <a:ext cx="10515600" cy="438912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Demo Pipeline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45262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BBBBBB"/>
                </a:solidFill>
                <a:latin typeface="Calibri"/>
              </a:defRPr>
            </a:pPr>
            <a:r>
              <a:t>Full end-to-end: query → agent selection → verified delivery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2E7D32"/>
                </a:solidFill>
                <a:latin typeface="Calibri"/>
              </a:defRPr>
            </a:pPr>
            <a:r>
              <a:t>✅ LIVE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C1A00"/>
                </a:solidFill>
                <a:latin typeface="Calibri"/>
              </a:defRPr>
            </a:pPr>
            <a:r>
              <a:t>Demo: Director request → Agent selection → Verified delivery in &lt;90 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Why Now — The Regulatory Hammer ⚖️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1188720"/>
            <a:ext cx="502920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1">
                <a:solidFill>
                  <a:srgbClr val="DC1A00"/>
                </a:solidFill>
                <a:latin typeface="Calibri"/>
              </a:defRPr>
            </a:pPr>
            <a:r>
              <a:t>EU AI ACT — FULL ENFORCEMENT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1737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August 2,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377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~5 months from today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DC1A00"/>
                </a:solidFill>
                <a:latin typeface="Calibri"/>
              </a:defRPr>
            </a:pPr>
            <a:r>
              <a:t>Fines: up to €35M or 7% of global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High-risk: hiring, finance, healthcare AI must prove safety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118872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Compliance Cost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888888"/>
                </a:solidFill>
                <a:latin typeface="Calibri"/>
              </a:defRPr>
            </a:pPr>
            <a:r>
              <a:t>Build Yourself: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888888"/>
                </a:solidFill>
                <a:latin typeface="Calibri"/>
              </a:defRPr>
            </a:pPr>
            <a:r>
              <a:t>€319,000/system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Aft>
                <a:spcPts val="0"/>
              </a:spcAft>
              <a:defRPr sz="1000" b="0">
                <a:solidFill>
                  <a:srgbClr val="555555"/>
                </a:solidFill>
                <a:latin typeface="Calibri"/>
              </a:defRPr>
            </a:pPr>
            <a:r>
              <a:t>+ €150K/year maintenance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1">
                <a:solidFill>
                  <a:srgbClr val="DC1A00"/>
                </a:solidFill>
                <a:latin typeface="Calibri"/>
              </a:defRPr>
            </a:pPr>
            <a:r>
              <a:t>AGORA: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2148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1">
                <a:solidFill>
                  <a:srgbClr val="DC1A00"/>
                </a:solidFill>
                <a:latin typeface="Calibri"/>
              </a:defRPr>
            </a:pPr>
            <a:r>
              <a:t>$199/month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2468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1">
                <a:solidFill>
                  <a:srgbClr val="2E7D32"/>
                </a:solidFill>
                <a:latin typeface="Calibri"/>
              </a:defRPr>
            </a:pPr>
            <a:r>
              <a:t>1,600× cheaper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926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Agora maps to 6 of 7 key EU AI Act articles.</a:t>
            </a:r>
            <a:br/>
            <a:r>
              <a:t>We didn't build for compliance — we built for trust. Compliance came free.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Global Regulation Timeline — All Converging on AI Trust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4348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480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EU AI 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4709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Aug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  <a:r>
              <a:t>Full enforcement for high-risk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80360" y="44348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71800" y="4480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USA — Colorado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971800" y="4709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Jun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7180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  <a:r>
              <a:t>Duty of care, annual impact assessments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0640" y="44348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0" y="4480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USA — NIST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709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Feb 2026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  <a:r>
              <a:t>AI Agent identity &amp; security standards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60920" y="44348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52360" y="4480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China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52360" y="4709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Jan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236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  <a:r>
              <a:t>Mandatory security reviews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601200" y="44348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92640" y="4480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DC1A00"/>
                </a:solidFill>
                <a:latin typeface="Calibri"/>
              </a:defRPr>
            </a:pPr>
            <a:r>
              <a:t>Singapore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47091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1">
                <a:solidFill>
                  <a:srgbClr val="FFFFFF"/>
                </a:solidFill>
                <a:latin typeface="Calibri"/>
              </a:defRPr>
            </a:pPr>
            <a:r>
              <a:t>Jan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BBBBBB"/>
                </a:solidFill>
                <a:latin typeface="Calibri"/>
              </a:defRPr>
            </a:pPr>
            <a:r>
              <a:t>Agentic AI governance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914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BBBBBB"/>
                </a:solidFill>
                <a:latin typeface="Calibri"/>
              </a:defRPr>
            </a:pPr>
            <a:r>
              <a:t>AI-first company. Built by builders.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1645920"/>
            <a:ext cx="7315200" cy="32004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990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Calibri"/>
              </a:defRPr>
            </a:pPr>
            <a:r>
              <a:t>Frederic Putkov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286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CEO &amp; Founder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743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0"/>
              </a:spcAft>
              <a:defRPr sz="1200" b="0">
                <a:solidFill>
                  <a:srgbClr val="888888"/>
                </a:solidFill>
                <a:latin typeface="Calibri"/>
              </a:defRPr>
            </a:pPr>
            <a:r>
              <a:t>Suffolk University, Entrepreneurship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Built the entire Agora stack: trust engine, marketplace, API, ZK circuits, MCP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520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Led Proxima (blockchain real estate) to Suffolk competition finals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8404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Runs operations with 7 AI agents — monthly burn $4,900 vs industry $60K+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1605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•  First customer of own platform: living proof that AI agents can run a company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95"/>
              </a:lnSpc>
              <a:spcAft>
                <a:spcPts val="0"/>
              </a:spcAft>
              <a:defRPr sz="1300" b="0">
                <a:solidFill>
                  <a:srgbClr val="DC1A00"/>
                </a:solidFill>
                <a:latin typeface="Calibri"/>
              </a:defRPr>
            </a:pPr>
            <a:r>
              <a:t>"We practice what we preach: 7 AI agents run our operations.</a:t>
            </a:r>
            <a:br/>
            <a:r>
              <a:t>We're the first customer of our own platform."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355080"/>
            <a:ext cx="11277295" cy="36576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2408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Market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761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2825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034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Revenue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243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8451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AI-First 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3660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8869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4077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09286" y="6400800"/>
            <a:ext cx="10252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9"/>
              </a:lnSpc>
              <a:spcAft>
                <a:spcPts val="0"/>
              </a:spcAft>
              <a:defRPr sz="800" b="1">
                <a:solidFill>
                  <a:srgbClr val="DC1A00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82408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0761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32825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58034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3243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08451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33660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58869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84077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09286" y="6428232"/>
            <a:ext cx="12700" cy="21945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359"/>
              </a:lnSpc>
              <a:spcAft>
                <a:spcPts val="0"/>
              </a:spcAft>
              <a:defRPr sz="6400" b="1">
                <a:solidFill>
                  <a:srgbClr val="DC1A00"/>
                </a:solidFill>
                <a:latin typeface="Calibri"/>
              </a:defRPr>
            </a:pPr>
            <a:r>
              <a:t>$10,000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What this unlocks: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743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50 agents listed and live on the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063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Stripe payments fully integrated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383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First paid transactions — real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3703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BBBBBB"/>
                </a:solidFill>
                <a:latin typeface="Calibri"/>
              </a:defRPr>
            </a:pPr>
            <a:r>
              <a:t>→  EU AI Act compliance certification ready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4206240"/>
            <a:ext cx="9144000" cy="109728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42976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The Numbers: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233 AI incidents last year  •  140M agent payments with zero quality control  •  $183B market by 2033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BBBBBB"/>
                </a:solidFill>
                <a:latin typeface="Calibri"/>
              </a:defRPr>
            </a:pPr>
            <a:r>
              <a:t>EU AI Act enforcement in 5 months  •  €35M fines  •  Agora: $199/mo vs €319K internal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359"/>
              </a:lnSpc>
              <a:spcAft>
                <a:spcPts val="0"/>
              </a:spcAft>
              <a:defRPr sz="6400" b="1">
                <a:solidFill>
                  <a:srgbClr val="FFFFFF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DC1A00"/>
                </a:solidFill>
                <a:latin typeface="Calibri"/>
              </a:defRPr>
            </a:pPr>
            <a:r>
              <a:t>Verify AI. Trust the Future.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657600"/>
            <a:ext cx="210312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The trust layer for the AI economy  ·  agora-marketplace.vercel.app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20095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39"/>
              </a:lnSpc>
              <a:spcAft>
                <a:spcPts val="0"/>
              </a:spcAft>
              <a:defRPr sz="1600" b="1">
                <a:solidFill>
                  <a:srgbClr val="DC1A00"/>
                </a:solidFill>
                <a:latin typeface="Calibri"/>
              </a:defRPr>
            </a:pPr>
            <a:r>
              <a:t>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777240"/>
            <a:ext cx="1828800" cy="38100"/>
          </a:xfrm>
          <a:prstGeom prst="rect">
            <a:avLst/>
          </a:prstGeom>
          <a:solidFill>
            <a:srgbClr val="DC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233 AI incidents, +56% YoY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98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Stanford AI Index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78% organizations using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McKinsey Global Survey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$10.91B → $182.97B market, 49.6% 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Grand View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06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$3-5T agent commerce by 2030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07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McKinsey via Forbes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MCP: 97M+ SDK downloads, 16K+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npm/PyPI registries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Circle: 140M payments, 400K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130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Circle Blog / Annual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x402: 50M+ transactions, $600M annualized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15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The Block, MEXC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EU AI Act: Aug 2, 2026 enforcement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188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europa.eu, AI Act Regulation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097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EU AI Act: €35M / 7% fine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2984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 Act Article 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€319K internal compliance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8013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BCG / Deloitte estimates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McHire: 64M records leaked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3042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AI Incident 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6060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Replit agent deleted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80720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Replit incident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108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Recall Network: $42M raised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101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Bessemer Venture 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11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150+ A2A partner organizations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1304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Google, Linux Foundation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14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35"/>
              </a:lnSpc>
              <a:spcAft>
                <a:spcPts val="0"/>
              </a:spcAft>
              <a:defRPr sz="900" b="0">
                <a:solidFill>
                  <a:srgbClr val="BBBBBB"/>
                </a:solidFill>
                <a:latin typeface="Calibri"/>
              </a:defRPr>
            </a:pPr>
            <a:r>
              <a:t>60+ AP2 payment 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31596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919"/>
              </a:lnSpc>
              <a:spcAft>
                <a:spcPts val="0"/>
              </a:spcAft>
              <a:defRPr sz="800" b="0">
                <a:solidFill>
                  <a:srgbClr val="555555"/>
                </a:solidFill>
                <a:latin typeface="Calibri"/>
              </a:defRPr>
            </a:pPr>
            <a:r>
              <a:t>Google (Mastercard, PayPal, Shopify)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